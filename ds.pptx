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hildos Arabic Light" panose="020B0604020202020204" charset="-78"/>
      <p:regular r:id="rId14"/>
    </p:embeddedFont>
    <p:embeddedFont>
      <p:font typeface="Dynapuff Condensed" panose="020B0604020202020204" charset="0"/>
      <p:regular r:id="rId15"/>
    </p:embeddedFont>
    <p:embeddedFont>
      <p:font typeface="Dynapuff Condensed Bold" panose="020B0604020202020204" charset="0"/>
      <p:regular r:id="rId16"/>
    </p:embeddedFont>
    <p:embeddedFont>
      <p:font typeface="Dynapuff SemiCondensed" panose="020B0604020202020204" charset="0"/>
      <p:regular r:id="rId17"/>
    </p:embeddedFont>
    <p:embeddedFont>
      <p:font typeface="Montserrat" panose="020F0502020204030204" pitchFamily="2" charset="0"/>
      <p:regular r:id="rId18"/>
    </p:embeddedFont>
    <p:embeddedFont>
      <p:font typeface="Poppins" panose="020B0502040204020203" pitchFamily="2" charset="0"/>
      <p:regular r:id="rId19"/>
    </p:embeddedFont>
    <p:embeddedFont>
      <p:font typeface="Poppins Bold" panose="020B0604020202020204" charset="0"/>
      <p:regular r:id="rId20"/>
    </p:embeddedFont>
    <p:embeddedFont>
      <p:font typeface="Roboto" panose="020F0502020204030204" pitchFamily="2" charset="0"/>
      <p:regular r:id="rId21"/>
    </p:embeddedFont>
    <p:embeddedFont>
      <p:font typeface="Roboto Bold" panose="020B0604020202020204" charset="0"/>
      <p:regular r:id="rId22"/>
    </p:embeddedFont>
    <p:embeddedFont>
      <p:font typeface="The Seaso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jpe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.svg"/><Relationship Id="rId5" Type="http://schemas.openxmlformats.org/officeDocument/2006/relationships/image" Target="../media/image12.png"/><Relationship Id="rId10" Type="http://schemas.openxmlformats.org/officeDocument/2006/relationships/image" Target="../media/image1.png"/><Relationship Id="rId4" Type="http://schemas.openxmlformats.org/officeDocument/2006/relationships/image" Target="../media/image11.jpe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8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svg"/><Relationship Id="rId7" Type="http://schemas.openxmlformats.org/officeDocument/2006/relationships/image" Target="../media/image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13428" y="7846789"/>
            <a:ext cx="8261144" cy="66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Course: Data Structures / Programming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0044" y="3343275"/>
            <a:ext cx="14639924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60"/>
              </a:lnSpc>
              <a:spcBef>
                <a:spcPct val="0"/>
              </a:spcBef>
            </a:pPr>
            <a:r>
              <a:rPr lang="en-US" sz="5050" spc="50">
                <a:solidFill>
                  <a:srgbClr val="000000"/>
                </a:solidFill>
                <a:latin typeface="Childos Arabic Light"/>
                <a:ea typeface="Childos Arabic Light"/>
                <a:cs typeface="Childos Arabic Light"/>
                <a:sym typeface="Childos Arabic Light"/>
              </a:rPr>
              <a:t>USING DOUBLY LINKED LIST &amp; WIN32 GUI (C++)</a:t>
            </a:r>
          </a:p>
        </p:txBody>
      </p:sp>
      <p:sp>
        <p:nvSpPr>
          <p:cNvPr id="8" name="Freeform 8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4418111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28630" y="1640629"/>
            <a:ext cx="13793274" cy="134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07"/>
              </a:lnSpc>
              <a:spcBef>
                <a:spcPct val="0"/>
              </a:spcBef>
            </a:pPr>
            <a:r>
              <a:rPr lang="en-US" sz="8148" dirty="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PHONE DIRECTORY APPLICATION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62570" y="4618086"/>
            <a:ext cx="8815090" cy="1753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41" lvl="1" indent="-302270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DEVELOPED IN C++</a:t>
            </a:r>
          </a:p>
          <a:p>
            <a:pPr marL="604541" lvl="1" indent="-302270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STRUCTURE BASED PROJECT</a:t>
            </a:r>
          </a:p>
          <a:p>
            <a:pPr marL="604541" lvl="1" indent="-302270" algn="l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GUI-BASED CONTACT MANAGEMENT SYSTEM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8981959" y="3819719"/>
            <a:ext cx="3333148" cy="3872151"/>
            <a:chOff x="0" y="0"/>
            <a:chExt cx="546608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2"/>
              <a:stretch>
                <a:fillRect l="-23054" r="-23054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239236" y="3819719"/>
            <a:ext cx="3333148" cy="3872151"/>
            <a:chOff x="0" y="0"/>
            <a:chExt cx="546608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3"/>
              <a:stretch>
                <a:fillRect l="-22045" r="-2204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499415" y="3819719"/>
            <a:ext cx="3333148" cy="3872151"/>
            <a:chOff x="0" y="0"/>
            <a:chExt cx="546608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-22045" r="-2204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587273" y="3819719"/>
            <a:ext cx="3333148" cy="3872151"/>
            <a:chOff x="0" y="0"/>
            <a:chExt cx="546608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38261" cy="6348730"/>
            </a:xfrm>
            <a:custGeom>
              <a:avLst/>
              <a:gdLst/>
              <a:ahLst/>
              <a:cxnLst/>
              <a:rect l="l" t="t" r="r" b="b"/>
              <a:pathLst>
                <a:path w="5438261" h="6348730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47650" y="294640"/>
              <a:ext cx="4889500" cy="4693920"/>
            </a:xfrm>
            <a:custGeom>
              <a:avLst/>
              <a:gdLst/>
              <a:ahLst/>
              <a:cxnLst/>
              <a:rect l="l" t="t" r="r" b="b"/>
              <a:pathLst>
                <a:path w="4889500" h="469392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5"/>
              <a:stretch>
                <a:fillRect l="-21910" r="-21910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270" y="6350"/>
              <a:ext cx="5457190" cy="6342380"/>
            </a:xfrm>
            <a:custGeom>
              <a:avLst/>
              <a:gdLst/>
              <a:ahLst/>
              <a:cxnLst/>
              <a:rect l="l" t="t" r="r" b="b"/>
              <a:pathLst>
                <a:path w="5457190" h="634238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7620" y="0"/>
              <a:ext cx="5458460" cy="6344920"/>
            </a:xfrm>
            <a:custGeom>
              <a:avLst/>
              <a:gdLst/>
              <a:ahLst/>
              <a:cxnLst/>
              <a:rect l="l" t="t" r="r" b="b"/>
              <a:pathLst>
                <a:path w="5458460" h="634492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EFDA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676662" y="2421698"/>
            <a:ext cx="8934676" cy="110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26"/>
              </a:lnSpc>
            </a:pPr>
            <a:r>
              <a:rPr lang="en-US" sz="768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GROUP MEMBER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1959" y="6983921"/>
            <a:ext cx="3605314" cy="5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2893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Eman tariq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99415" y="6983910"/>
            <a:ext cx="358527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FAtiha tahir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20460" y="6959432"/>
            <a:ext cx="358527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Malaika arooj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5107" y="6959432"/>
            <a:ext cx="358527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Alishba arshad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-156213" y="7986115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6" y="0"/>
                </a:lnTo>
                <a:lnTo>
                  <a:pt x="2369826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flipH="1" flipV="1">
            <a:off x="240497" y="-590356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9" y="0"/>
                </a:lnTo>
                <a:lnTo>
                  <a:pt x="6103109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91508" y="3745502"/>
            <a:ext cx="10304984" cy="471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 Phone Directory application manages contacts efficiently</a:t>
            </a:r>
          </a:p>
          <a:p>
            <a:pPr marL="755646" lvl="1" indent="-377823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Supports adding, searching, displaying, and deleting contacts</a:t>
            </a:r>
          </a:p>
          <a:p>
            <a:pPr marL="755646" lvl="1" indent="-377823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Uses Doubly Linked List for dynamic data handling</a:t>
            </a:r>
          </a:p>
          <a:p>
            <a:pPr marL="755646" lvl="1" indent="-377823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Provides a Windows GUI for user-friendly interaction</a:t>
            </a:r>
          </a:p>
          <a:p>
            <a:pPr algn="just">
              <a:lnSpc>
                <a:spcPts val="8399"/>
              </a:lnSpc>
            </a:pPr>
            <a:endParaRPr lang="en-US" sz="3499">
              <a:solidFill>
                <a:srgbClr val="000000"/>
              </a:solidFill>
              <a:latin typeface="Dynapuff Condensed"/>
              <a:ea typeface="Dynapuff Condensed"/>
              <a:cs typeface="Dynapuff Condensed"/>
              <a:sym typeface="Dynapuff Condense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24696" y="2467693"/>
            <a:ext cx="8438608" cy="77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1"/>
              </a:lnSpc>
            </a:pPr>
            <a:r>
              <a:rPr lang="en-US" sz="6346" spc="63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5143" y="1028700"/>
            <a:ext cx="101712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WHY DOUBLY LINKED LIST?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444" y="2761131"/>
            <a:ext cx="4436386" cy="4436386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98885" y="2568855"/>
            <a:ext cx="8369676" cy="617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Each node has: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Previous pointer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Next pointer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Advantages: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Easy insertion &amp; deletion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Bi-directional traversal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Efficient memory usage compared to arrays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Suitable for contact management systems</a:t>
            </a:r>
          </a:p>
          <a:p>
            <a:pPr algn="l">
              <a:lnSpc>
                <a:spcPts val="4060"/>
              </a:lnSpc>
            </a:pPr>
            <a:endParaRPr lang="en-US" sz="29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75679">
            <a:off x="2612587" y="3091802"/>
            <a:ext cx="6887032" cy="6571491"/>
          </a:xfrm>
          <a:custGeom>
            <a:avLst/>
            <a:gdLst/>
            <a:ahLst/>
            <a:cxnLst/>
            <a:rect l="l" t="t" r="r" b="b"/>
            <a:pathLst>
              <a:path w="6887032" h="6571491">
                <a:moveTo>
                  <a:pt x="0" y="0"/>
                </a:moveTo>
                <a:lnTo>
                  <a:pt x="6887032" y="0"/>
                </a:lnTo>
                <a:lnTo>
                  <a:pt x="6887032" y="6571491"/>
                </a:lnTo>
                <a:lnTo>
                  <a:pt x="0" y="657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175679">
            <a:off x="9998000" y="3039966"/>
            <a:ext cx="6516917" cy="6218334"/>
          </a:xfrm>
          <a:custGeom>
            <a:avLst/>
            <a:gdLst/>
            <a:ahLst/>
            <a:cxnLst/>
            <a:rect l="l" t="t" r="r" b="b"/>
            <a:pathLst>
              <a:path w="6516917" h="6218334">
                <a:moveTo>
                  <a:pt x="0" y="0"/>
                </a:moveTo>
                <a:lnTo>
                  <a:pt x="6516918" y="0"/>
                </a:lnTo>
                <a:lnTo>
                  <a:pt x="6516918" y="6218334"/>
                </a:lnTo>
                <a:lnTo>
                  <a:pt x="0" y="621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44461" y="1874136"/>
            <a:ext cx="10399079" cy="921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4"/>
              </a:lnSpc>
              <a:spcBef>
                <a:spcPct val="0"/>
              </a:spcBef>
            </a:pPr>
            <a:r>
              <a:rPr lang="en-US" sz="7438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DATA ST</a:t>
            </a:r>
            <a:r>
              <a:rPr lang="en-US" sz="7438" u="none" strike="noStrik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RUCTURE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22457" y="4333916"/>
            <a:ext cx="5467292" cy="465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952" lvl="1" indent="-373476" algn="l">
              <a:lnSpc>
                <a:spcPts val="6158"/>
              </a:lnSpc>
              <a:buFont typeface="Arial"/>
              <a:buChar char="•"/>
            </a:pPr>
            <a:r>
              <a:rPr lang="en-US" sz="345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 Structure:</a:t>
            </a:r>
          </a:p>
          <a:p>
            <a:pPr algn="l">
              <a:lnSpc>
                <a:spcPts val="6158"/>
              </a:lnSpc>
            </a:pPr>
            <a:r>
              <a:rPr lang="en-US" sz="34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Name (wstring)</a:t>
            </a:r>
          </a:p>
          <a:p>
            <a:pPr algn="l">
              <a:lnSpc>
                <a:spcPts val="4843"/>
              </a:lnSpc>
            </a:pPr>
            <a:r>
              <a:rPr lang="en-US" sz="34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Phone Number (wstring)</a:t>
            </a:r>
          </a:p>
          <a:p>
            <a:pPr algn="l">
              <a:lnSpc>
                <a:spcPts val="4843"/>
              </a:lnSpc>
            </a:pPr>
            <a:r>
              <a:rPr lang="en-US" sz="34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Pointer to previous contact</a:t>
            </a:r>
          </a:p>
          <a:p>
            <a:pPr algn="l">
              <a:lnSpc>
                <a:spcPts val="4843"/>
              </a:lnSpc>
            </a:pPr>
            <a:r>
              <a:rPr lang="en-US" sz="34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Pointer to next contact</a:t>
            </a:r>
          </a:p>
          <a:p>
            <a:pPr algn="l">
              <a:lnSpc>
                <a:spcPts val="4843"/>
              </a:lnSpc>
            </a:pPr>
            <a:endParaRPr lang="en-US" sz="345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992186" y="4448216"/>
            <a:ext cx="4528546" cy="384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ts val="50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Functions: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createContact()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addContact()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searchContacts()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deleteContact()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displayContacts()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52" y="2971816"/>
            <a:ext cx="5772893" cy="549211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735985" y="3303900"/>
            <a:ext cx="7396465" cy="595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➕ Add new contact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📄 Display all contacts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🔍 Search contacts using name prefix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❌ Delete contact by name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🪟 Result window for search &amp; delete operations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🖥 Simple and interactive GUI</a:t>
            </a:r>
          </a:p>
          <a:p>
            <a:pPr algn="just">
              <a:lnSpc>
                <a:spcPts val="12179"/>
              </a:lnSpc>
            </a:pPr>
            <a:endParaRPr lang="en-US" sz="3199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41883" y="1689913"/>
            <a:ext cx="87996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APPLICATION FEATURES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61722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175679">
            <a:off x="281246" y="-346287"/>
            <a:ext cx="5038208" cy="4807374"/>
          </a:xfrm>
          <a:custGeom>
            <a:avLst/>
            <a:gdLst/>
            <a:ahLst/>
            <a:cxnLst/>
            <a:rect l="l" t="t" r="r" b="b"/>
            <a:pathLst>
              <a:path w="5038208" h="4807374">
                <a:moveTo>
                  <a:pt x="0" y="0"/>
                </a:moveTo>
                <a:lnTo>
                  <a:pt x="5038208" y="0"/>
                </a:lnTo>
                <a:lnTo>
                  <a:pt x="5038208" y="4807374"/>
                </a:lnTo>
                <a:lnTo>
                  <a:pt x="0" y="4807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0050" y="1057275"/>
            <a:ext cx="4800600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GUI DESIGN (WIN32 API)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00650" y="519722"/>
            <a:ext cx="942975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63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BUILT USING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63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WIN32 WINDOWS API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93371" y="3333750"/>
            <a:ext cx="6191250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      CONTROLS USED:</a:t>
            </a:r>
          </a:p>
          <a:p>
            <a:pPr marL="971561" lvl="1" indent="-485781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STATIC LABELS</a:t>
            </a:r>
          </a:p>
          <a:p>
            <a:pPr marL="971561" lvl="1" indent="-485781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EDIT BOXES</a:t>
            </a:r>
          </a:p>
          <a:p>
            <a:pPr marL="971561" lvl="1" indent="-485781" algn="l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BUTTONS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2351" y="3333750"/>
            <a:ext cx="5648325" cy="485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BUTTONS:</a:t>
            </a:r>
          </a:p>
          <a:p>
            <a:pPr marL="1101098" lvl="1" indent="-550549" algn="l">
              <a:lnSpc>
                <a:spcPts val="6120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</a:t>
            </a:r>
          </a:p>
          <a:p>
            <a:pPr marL="1101098" lvl="1" indent="-550549" algn="l">
              <a:lnSpc>
                <a:spcPts val="6120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DISPLAY</a:t>
            </a:r>
          </a:p>
          <a:p>
            <a:pPr marL="1101098" lvl="1" indent="-550549" algn="l">
              <a:lnSpc>
                <a:spcPts val="6120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</a:p>
          <a:p>
            <a:pPr marL="1101098" lvl="1" indent="-550549" algn="l">
              <a:lnSpc>
                <a:spcPts val="6120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DELETE</a:t>
            </a:r>
          </a:p>
          <a:p>
            <a:pPr marL="1101098" lvl="1" indent="-550549" algn="l">
              <a:lnSpc>
                <a:spcPts val="6120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251939" y="8810625"/>
            <a:ext cx="1853993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SEPARATE RESULT WINDOW FOR OUTPUT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148236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88210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757988" y="2457450"/>
            <a:ext cx="477202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WORKING 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25167" y="3802652"/>
            <a:ext cx="12037665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USER ENTERS NAME AND PHONE NUMBER</a:t>
            </a:r>
          </a:p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CLICKS DESIRED ACTION BUTTON</a:t>
            </a:r>
          </a:p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STORED IN DOUBLY LINKED LIST</a:t>
            </a:r>
          </a:p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SEARCH SHOWS LIVE PREFIX-BASED SUGGESTIONS</a:t>
            </a:r>
          </a:p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DELETE UPDATES LINKS DYNAMICALLY</a:t>
            </a:r>
          </a:p>
          <a:p>
            <a:pPr marL="712488" lvl="1" indent="-356244" algn="l">
              <a:lnSpc>
                <a:spcPts val="396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OUTPUT SHOWN USING MESSAGEBOX OR RESULT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272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61724" y="307491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86718" y="3093960"/>
            <a:ext cx="898554" cy="895287"/>
          </a:xfrm>
          <a:custGeom>
            <a:avLst/>
            <a:gdLst/>
            <a:ahLst/>
            <a:cxnLst/>
            <a:rect l="l" t="t" r="r" b="b"/>
            <a:pathLst>
              <a:path w="898554" h="895287">
                <a:moveTo>
                  <a:pt x="0" y="0"/>
                </a:moveTo>
                <a:lnTo>
                  <a:pt x="898554" y="0"/>
                </a:lnTo>
                <a:lnTo>
                  <a:pt x="898554" y="895287"/>
                </a:lnTo>
                <a:lnTo>
                  <a:pt x="0" y="895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201282" y="3522554"/>
            <a:ext cx="3760442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9860278" y="3524882"/>
            <a:ext cx="3226440" cy="167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180962" y="1720805"/>
            <a:ext cx="5926076" cy="953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7"/>
              </a:lnSpc>
              <a:spcBef>
                <a:spcPct val="0"/>
              </a:spcBef>
            </a:pPr>
            <a:r>
              <a:rPr lang="en-US" sz="6197" b="1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 C</a:t>
            </a:r>
            <a:r>
              <a:rPr lang="en-US" sz="6197" b="1" u="none">
                <a:solidFill>
                  <a:srgbClr val="000000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ONCLUSION</a:t>
            </a:r>
          </a:p>
        </p:txBody>
      </p:sp>
      <p:sp>
        <p:nvSpPr>
          <p:cNvPr id="8" name="Freeform 8"/>
          <p:cNvSpPr/>
          <p:nvPr/>
        </p:nvSpPr>
        <p:spPr>
          <a:xfrm rot="1175679">
            <a:off x="11781271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175679">
            <a:off x="6939999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175679">
            <a:off x="2098727" y="4628293"/>
            <a:ext cx="4408001" cy="4206041"/>
          </a:xfrm>
          <a:custGeom>
            <a:avLst/>
            <a:gdLst/>
            <a:ahLst/>
            <a:cxnLst/>
            <a:rect l="l" t="t" r="r" b="b"/>
            <a:pathLst>
              <a:path w="4408001" h="4206041">
                <a:moveTo>
                  <a:pt x="0" y="0"/>
                </a:moveTo>
                <a:lnTo>
                  <a:pt x="4408002" y="0"/>
                </a:lnTo>
                <a:lnTo>
                  <a:pt x="4408002" y="4206041"/>
                </a:lnTo>
                <a:lnTo>
                  <a:pt x="0" y="4206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594145" y="5402576"/>
            <a:ext cx="2782255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Strong understanding of linked lists &amp; GUI programming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52873" y="5636536"/>
            <a:ext cx="2782255" cy="167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Efficient and user-friendly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49430" y="5581328"/>
            <a:ext cx="2782255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Demonstrates real-life use of data structures</a:t>
            </a:r>
          </a:p>
        </p:txBody>
      </p:sp>
      <p:sp>
        <p:nvSpPr>
          <p:cNvPr id="14" name="Freeform 14"/>
          <p:cNvSpPr/>
          <p:nvPr/>
        </p:nvSpPr>
        <p:spPr>
          <a:xfrm flipV="1">
            <a:off x="-250222" y="-10386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 flipV="1">
            <a:off x="14425139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4819" y="738769"/>
            <a:ext cx="14111580" cy="8809462"/>
          </a:xfrm>
          <a:custGeom>
            <a:avLst/>
            <a:gdLst/>
            <a:ahLst/>
            <a:cxnLst/>
            <a:rect l="l" t="t" r="r" b="b"/>
            <a:pathLst>
              <a:path w="14111580" h="8809462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07379" y="4181567"/>
            <a:ext cx="11117866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File handling for data persistence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Sorting contacts alphabetically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Auto-suggestions while typing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Dynapuff SemiCondensed"/>
                <a:ea typeface="Dynapuff SemiCondensed"/>
                <a:cs typeface="Dynapuff SemiCondensed"/>
                <a:sym typeface="Dynapuff SemiCondensed"/>
              </a:rPr>
              <a:t>Improved UI design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/>
              </a:solidFill>
              <a:latin typeface="Dynapuff SemiCondensed"/>
              <a:ea typeface="Dynapuff SemiCondensed"/>
              <a:cs typeface="Dynapuff SemiCondensed"/>
              <a:sym typeface="Dynapuff Semi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8828" y="2437405"/>
            <a:ext cx="8350468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FUTURE ENHANCEMENTS: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337292" y="-8763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407223" y="-3026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6735" y="6747939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10130" y="6114049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3816" y="3975664"/>
            <a:ext cx="8688208" cy="36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64261" y="6677503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184892" y="-1028700"/>
            <a:ext cx="6103108" cy="4114800"/>
          </a:xfrm>
          <a:custGeom>
            <a:avLst/>
            <a:gdLst/>
            <a:ahLst/>
            <a:cxnLst/>
            <a:rect l="l" t="t" r="r" b="b"/>
            <a:pathLst>
              <a:path w="6103108" h="4114800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54823" y="-455023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2605" y="6043612"/>
            <a:ext cx="2369825" cy="2300885"/>
          </a:xfrm>
          <a:custGeom>
            <a:avLst/>
            <a:gdLst/>
            <a:ahLst/>
            <a:cxnLst/>
            <a:rect l="l" t="t" r="r" b="b"/>
            <a:pathLst>
              <a:path w="2369825" h="230088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4173200" y="628709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Office PowerPoint</Application>
  <PresentationFormat>Custom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Montserrat</vt:lpstr>
      <vt:lpstr>Roboto Bold</vt:lpstr>
      <vt:lpstr>Calibri</vt:lpstr>
      <vt:lpstr>Dynapuff Condensed</vt:lpstr>
      <vt:lpstr>The Seasons Bold</vt:lpstr>
      <vt:lpstr>Roboto</vt:lpstr>
      <vt:lpstr>Poppins Bold</vt:lpstr>
      <vt:lpstr>Dynapuff Condensed Bold</vt:lpstr>
      <vt:lpstr>Childos Arabic Light</vt:lpstr>
      <vt:lpstr>Canva Sans</vt:lpstr>
      <vt:lpstr>Dynapuff SemiCondensed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and  Dark Brown Aesthetic Abstract Corner Project Presentation</dc:title>
  <cp:lastModifiedBy>FatihA</cp:lastModifiedBy>
  <cp:revision>2</cp:revision>
  <dcterms:created xsi:type="dcterms:W3CDTF">2006-08-16T00:00:00Z</dcterms:created>
  <dcterms:modified xsi:type="dcterms:W3CDTF">2025-12-20T20:06:11Z</dcterms:modified>
  <dc:identifier>DAG8EfZrIZ4</dc:identifier>
</cp:coreProperties>
</file>